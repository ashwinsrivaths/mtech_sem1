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2938259" y="1851799"/>
            <a:ext cx="3267481" cy="818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90424" y="497078"/>
            <a:ext cx="836315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504724" y="1198435"/>
            <a:ext cx="8134550" cy="1918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390424" y="497078"/>
            <a:ext cx="836315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504724" y="1239583"/>
            <a:ext cx="3594100" cy="288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90424" y="497078"/>
            <a:ext cx="836315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90424" y="497078"/>
            <a:ext cx="836315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4724" y="1198435"/>
            <a:ext cx="8134550" cy="1918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47275" y="67450"/>
            <a:ext cx="1419425" cy="726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tensorflow.org/tutorials" TargetMode="External"/><Relationship Id="rId4" Type="http://schemas.openxmlformats.org/officeDocument/2006/relationships/hyperlink" Target="https://www.tensorflow.org/guid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watch?v=EqWsPO8DVXk" TargetMode="External"/><Relationship Id="rId4" Type="http://schemas.openxmlformats.org/officeDocument/2006/relationships/hyperlink" Target="https://www.tensorflow.org/guide/migrate" TargetMode="External"/><Relationship Id="rId5" Type="http://schemas.openxmlformats.org/officeDocument/2006/relationships/hyperlink" Target="https://www.youtube.com/watch?v=5ECD8J3dvDQ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/>
        </p:nvSpPr>
        <p:spPr>
          <a:xfrm>
            <a:off x="2914307" y="1851799"/>
            <a:ext cx="3477895" cy="818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-US" sz="5200" u="none" cap="none" strike="noStrike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TensorFlow</a:t>
            </a:r>
            <a:endParaRPr b="0" i="0" sz="5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3646576" y="2886176"/>
            <a:ext cx="188595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39BE4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90424" y="497078"/>
            <a:ext cx="125285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504725" y="1198425"/>
            <a:ext cx="4923900" cy="28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tensorflow?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Why we are using tensorflow?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2.x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2.x - features and changes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Changes with respect to TensorFlow 1.x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Keras and it’s advantages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Keras vs tf.keras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Tutorials and guides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Notes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390424" y="497078"/>
            <a:ext cx="1885314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TensorFlow</a:t>
            </a:r>
            <a:endParaRPr/>
          </a:p>
        </p:txBody>
      </p:sp>
      <p:sp>
        <p:nvSpPr>
          <p:cNvPr id="59" name="Google Shape;59;p9"/>
          <p:cNvSpPr txBox="1"/>
          <p:nvPr/>
        </p:nvSpPr>
        <p:spPr>
          <a:xfrm>
            <a:off x="504724" y="1198435"/>
            <a:ext cx="7552690" cy="1602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is a machine learning library by Google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It is open sourced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It is mainly used for implementing neural networks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It is an end-to-end platform, which means you can use it for building your  models from scratch to deploying them into a production environment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390424" y="497078"/>
            <a:ext cx="522922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TensorFlow for this course?</a:t>
            </a:r>
            <a:endParaRPr/>
          </a:p>
        </p:txBody>
      </p:sp>
      <p:sp>
        <p:nvSpPr>
          <p:cNvPr id="66" name="Google Shape;66;p10"/>
          <p:cNvSpPr txBox="1"/>
          <p:nvPr/>
        </p:nvSpPr>
        <p:spPr>
          <a:xfrm>
            <a:off x="504724" y="1198435"/>
            <a:ext cx="7063105" cy="2223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Most used library for deep learning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Easy transition from research to production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Extensive industry support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Easy deployment around servers, mobile devices, web platforms etc</a:t>
            </a:r>
            <a:endParaRPr b="0" i="0" sz="1800" u="none" cap="none" strike="noStrike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You can easily sort out the issues using GitHub, StackOverflow etc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Used by world’s top AI companies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Consistently updated with cutting edge changes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390424" y="497078"/>
            <a:ext cx="3824604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Some technical reasons</a:t>
            </a:r>
            <a:endParaRPr/>
          </a:p>
        </p:txBody>
      </p:sp>
      <p:sp>
        <p:nvSpPr>
          <p:cNvPr id="73" name="Google Shape;73;p11"/>
          <p:cNvSpPr txBox="1"/>
          <p:nvPr/>
        </p:nvSpPr>
        <p:spPr>
          <a:xfrm>
            <a:off x="504724" y="1198435"/>
            <a:ext cx="7848600" cy="1602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Easy and readable syntax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Being a low-level library it provide more flexibility to developers to implement  their own functionalities and services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Provides high level API for implementing advanced neural net architectures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Distributed training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390424" y="497078"/>
            <a:ext cx="1885314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OS Support</a:t>
            </a:r>
            <a:endParaRPr/>
          </a:p>
        </p:txBody>
      </p:sp>
      <p:sp>
        <p:nvSpPr>
          <p:cNvPr id="80" name="Google Shape;80;p12"/>
          <p:cNvSpPr txBox="1"/>
          <p:nvPr/>
        </p:nvSpPr>
        <p:spPr>
          <a:xfrm>
            <a:off x="390424" y="1239583"/>
            <a:ext cx="5332730" cy="1764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is supported on following 64-bit systems: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3535" lvl="0" marL="4699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Ubuntu 16.04 or later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3535" lvl="0" marL="469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macOS 10.12.6 (Sierra) or later (no GPU support)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3535" lvl="0" marL="4699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Windows 7 or later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3535" lvl="0" marL="4699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Raspbian 9.0 or later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390424" y="497078"/>
            <a:ext cx="289369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Language support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04724" y="1198435"/>
            <a:ext cx="1410335" cy="1918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Python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-    C++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JavaScript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Java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Go 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Swift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90425" y="497075"/>
            <a:ext cx="5409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New version </a:t>
            </a:r>
            <a:r>
              <a:rPr lang="en-US">
                <a:latin typeface="Trebuchet MS"/>
                <a:ea typeface="Trebuchet MS"/>
                <a:cs typeface="Trebuchet MS"/>
                <a:sym typeface="Trebuchet MS"/>
              </a:rPr>
              <a:t>- TensorFlow 2.x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04724" y="1198435"/>
            <a:ext cx="7505065" cy="1918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Much easier development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Tight integration with Keras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More familiar for Python developers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Deploy anywhere across servers, mobile and edge devices, browser and  Node.js with TensorFlow Extended, TensorFlow Lite and TensorFlow .J 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Multi GPU support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" name="Google Shape;95;p14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390424" y="497078"/>
            <a:ext cx="317055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What’s new in TF2?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04724" y="1198435"/>
            <a:ext cx="7800975" cy="128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tf.function(): Creates a callable TensorFlow graph from a Python function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tf.GradientTape(): Records operations for automatic differentiation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tf.data(): helps in building complex input pipelines from simple, and reusable  pieces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2" name="Google Shape;102;p15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90424" y="497078"/>
            <a:ext cx="637476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Changes with respect to TensorFlow 1.x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504724" y="1198435"/>
            <a:ext cx="7868920" cy="128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Cleaning up of APIs: many APIs are either gone or moved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Eager execution (default): no need manually compile the abstract syntax tree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No more globals: no need to track variables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of function and elimination of session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16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90424" y="497078"/>
            <a:ext cx="596011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building: from simple to flexible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504725" y="1239575"/>
            <a:ext cx="3758700" cy="2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AutoNum type="arabicPeriod"/>
            </a:pPr>
            <a:r>
              <a:rPr lang="en-US"/>
              <a:t>Sequential API + built in layers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AutoNum type="arabicPeriod"/>
            </a:pPr>
            <a:r>
              <a:rPr lang="en-US"/>
              <a:t>Functional API + built in layers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AutoNum type="arabicPeriod"/>
            </a:pPr>
            <a:r>
              <a:rPr lang="en-US"/>
              <a:t>Functional API + custom layers</a:t>
            </a:r>
            <a:endParaRPr/>
          </a:p>
          <a:p>
            <a:pPr indent="0" lvl="0" marL="18796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00"/>
              <a:buNone/>
            </a:pPr>
            <a:r>
              <a:rPr lang="en-US"/>
              <a:t>+ custom metrics</a:t>
            </a:r>
            <a:endParaRPr/>
          </a:p>
          <a:p>
            <a:pPr indent="0" lvl="0" marL="1879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</a:pPr>
            <a:r>
              <a:rPr lang="en-US"/>
              <a:t>+ custom losses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AutoNum type="arabicPeriod" startAt="4"/>
            </a:pPr>
            <a:r>
              <a:rPr lang="en-US"/>
              <a:t>Subclassing: write everything</a:t>
            </a:r>
            <a:endParaRPr/>
          </a:p>
          <a:p>
            <a:pPr indent="0" lvl="0" marL="1751964" marR="56451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yourself from  scratch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4172086" y="1239583"/>
            <a:ext cx="621665" cy="11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61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-----&gt;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-----&gt;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8895" marR="0" rtl="0" algn="l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-----&gt;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4919745" y="1239583"/>
            <a:ext cx="3336925" cy="118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61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New users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7465" lvl="0" marL="49530" marR="5080" rtl="0" algn="l">
              <a:lnSpc>
                <a:spcPct val="193888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Engineers with standard use case  Engineers requiring control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4213302" y="3197999"/>
            <a:ext cx="584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-----&gt;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4960984" y="3197923"/>
            <a:ext cx="1238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Researchers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" name="Google Shape;120;p17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3544676" y="2246800"/>
            <a:ext cx="15945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rPr>
              <a:t>Keras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90424" y="497078"/>
            <a:ext cx="95504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Keras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504724" y="1198435"/>
            <a:ext cx="5638800" cy="128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Keras is a high-level neural network API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Written and implemented in Python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Can run on top of TensorFlow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It was designed keeping fast experimentation in mind.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" name="Google Shape;133;p19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90424" y="497078"/>
            <a:ext cx="289369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Keras advantages</a:t>
            </a: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504724" y="1188565"/>
            <a:ext cx="6517005" cy="2224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User-friendly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8769" lvl="1" marL="8128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Simple and user friendly interface. Actionable feedbacks are also provided.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Modular and composable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8769" lvl="1" marL="8128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Modules are there for every step, you can combine them to build solutions.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Easy to extend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8769" lvl="1" marL="8128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Gives freedom to add custom blocks to build on new ideas.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8769" lvl="1" marL="8128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85858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Cusrom layers, metrics, loss functions etc. can be defined easily.</a:t>
            </a:r>
            <a:endParaRPr b="0"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0" name="Google Shape;140;p20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90424" y="497078"/>
            <a:ext cx="267652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Keras vs tf.keras</a:t>
            </a:r>
            <a:endParaRPr/>
          </a:p>
        </p:txBody>
      </p:sp>
      <p:sp>
        <p:nvSpPr>
          <p:cNvPr id="146" name="Google Shape;146;p21"/>
          <p:cNvSpPr txBox="1"/>
          <p:nvPr/>
        </p:nvSpPr>
        <p:spPr>
          <a:xfrm>
            <a:off x="504724" y="1198435"/>
            <a:ext cx="8121015" cy="223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263969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In TF2 instead of writing “import keras” you will write  “from tensorflow import keras”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413384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In colab, if you see the message “Using TensorFlow Backend”, you are not  using tensorflow 2.x implementation of keras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tf.keras is the TensorFlow’s implementation of keras so it supports all the latest  changes in the TensorFlow version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tf.keras is also better in support and maintenance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7" name="Google Shape;147;p21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390424" y="497078"/>
            <a:ext cx="4180204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Latest tutorials and guides</a:t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504725" y="1198425"/>
            <a:ext cx="56178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sng" cap="none" strike="noStrike">
                <a:solidFill>
                  <a:srgbClr val="0096A7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https://www.tensorflow.org/tutorials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sng" cap="none" strike="noStrike">
                <a:solidFill>
                  <a:srgbClr val="0096A7"/>
                </a:solidFill>
                <a:latin typeface="Trebuchet MS"/>
                <a:ea typeface="Trebuchet MS"/>
                <a:cs typeface="Trebuchet MS"/>
                <a:sym typeface="Trebuchet M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https://www.tensorflow.org/guide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4" name="Google Shape;154;p22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90424" y="497078"/>
            <a:ext cx="95504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Notes</a:t>
            </a:r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504725" y="1198425"/>
            <a:ext cx="7030800" cy="19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TensorFlow 2.0 announcement video: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54965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0096A7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 v=EqWsPO8DVXk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4965" marR="667385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Guide to convert your code from TF 1 to TF 2: </a:t>
            </a:r>
            <a:r>
              <a:rPr b="0" i="0" lang="en-US" sz="1800" u="sng" cap="none" strike="noStrike">
                <a:solidFill>
                  <a:srgbClr val="0096A7"/>
                </a:solidFill>
                <a:latin typeface="Trebuchet MS"/>
                <a:ea typeface="Trebuchet MS"/>
                <a:cs typeface="Trebuchet MS"/>
                <a:sym typeface="Trebuchet M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https://www.tensorflow.org/guide/migrate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rgbClr val="585858"/>
                </a:solidFill>
                <a:latin typeface="Trebuchet MS"/>
                <a:ea typeface="Trebuchet MS"/>
                <a:cs typeface="Trebuchet MS"/>
                <a:sym typeface="Trebuchet MS"/>
              </a:rPr>
              <a:t>Detailed introduction video: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354965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0096A7"/>
                </a:solidFill>
                <a:latin typeface="Trebuchet MS"/>
                <a:ea typeface="Trebuchet MS"/>
                <a:cs typeface="Trebuchet MS"/>
                <a:sym typeface="Trebuchet M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 v=5ECD8J 3dvDQ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1" name="Google Shape;161;p23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ctrTitle"/>
          </p:nvPr>
        </p:nvSpPr>
        <p:spPr>
          <a:xfrm>
            <a:off x="2938248" y="1851800"/>
            <a:ext cx="40113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36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Thank </a:t>
            </a:r>
            <a:r>
              <a:rPr lang="en-US">
                <a:solidFill>
                  <a:srgbClr val="039BE4"/>
                </a:solidFill>
              </a:rPr>
              <a:t>you!</a:t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3205378" y="2886176"/>
            <a:ext cx="285305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Happy Learning :)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4"/>
          <p:cNvSpPr txBox="1"/>
          <p:nvPr>
            <p:ph idx="11" type="ftr"/>
          </p:nvPr>
        </p:nvSpPr>
        <p:spPr>
          <a:xfrm>
            <a:off x="2268537" y="4806110"/>
            <a:ext cx="4606290" cy="139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Proprietary content. ©Great Learning. All Rights Reserved. Unauthorized use or distribution prohibited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6A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